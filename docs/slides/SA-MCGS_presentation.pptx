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1658600" cy="6562725" type="screen4x3"/>
  <p:notesSz cx="6858000" cy="9144000"/>
  <p:embeddedFontLst>
    <p:embeddedFont>
      <p:font typeface="Plus Jakarta Sans"/>
      <p:regular r:id="rId17"/>
      <p:bold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font" Target="fonts/font1.fntdata"/><Relationship Id="rId18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658600" cy="65627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324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3400" y="457200"/>
            <a:ext cx="823019" cy="323403"/>
          </a:xfrm>
          <a:prstGeom prst="roundRect">
            <a:avLst>
              <a:gd name="adj" fmla="val 23561"/>
            </a:avLst>
          </a:prstGeom>
          <a:solidFill>
            <a:srgbClr val="EBE8F1"/>
          </a:solidFill>
          <a:ln w="9525">
            <a:solidFill>
              <a:srgbClr val="1E1E1E">
                <a:alpha val="7999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tIns="76200" rIns="76200" bIns="76200" lIns="76200"/>
          <a:lstStyle/>
          <a:p>
            <a:pPr algn="l">
              <a:lnSpc>
                <a:spcPts val="1197"/>
              </a:lnSpc>
            </a:pPr>
            <a:r>
              <a:rPr sz="900" spc="90">
                <a:solidFill>
                  <a:srgbClr val="7562AE"/>
                </a:solidFill>
                <a:latin typeface="Plus Jakarta Sans 600"/>
              </a:rPr>
              <a:t>SA-MCGS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400" y="1009203"/>
            <a:ext cx="5334000" cy="3572321"/>
          </a:xfrm>
          <a:prstGeom prst="roundRect">
            <a:avLst>
              <a:gd name="adj" fmla="val 2133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wrap="square" tIns="0" rIns="0" bIns="0" lIns="0"/>
          <a:lstStyle/>
          <a:p>
            <a:pPr algn="l">
              <a:lnSpc>
                <a:spcPts val="2700"/>
              </a:lnSpc>
            </a:pPr>
            <a:r>
              <a:rPr sz="2400" spc="-96">
                <a:solidFill>
                  <a:srgbClr val="3D3D3D"/>
                </a:solidFill>
                <a:latin typeface="Plus Jakarta Sans 400"/>
              </a:rPr>
              <a:t>Beyond Linear Prompting: Monte Carlo Graph Search as a System-2 Reasoning Framework for LLMs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3400" y="4772025"/>
            <a:ext cx="5334000" cy="514350"/>
          </a:xfrm>
          <a:prstGeom prst="roundRect">
            <a:avLst>
              <a:gd name="adj" fmla="val 14814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2025"/>
              </a:lnSpc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Augmenting LLMs with deliberate, search-based reasoning for complex structural tasks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400" y="5591175"/>
            <a:ext cx="5334000" cy="514350"/>
          </a:xfrm>
          <a:prstGeom prst="roundRect">
            <a:avLst>
              <a:gd name="adj" fmla="val 14814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2025"/>
              </a:lnSpc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Problem → Approach → Framework → Case Study → Results → Implications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4600" y="0"/>
            <a:ext cx="53340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24600" y="0"/>
            <a:ext cx="5334000" cy="6562725"/>
          </a:xfrm>
          <a:prstGeom prst="roundRect">
            <a:avLst>
              <a:gd name="adj" fmla="val 1428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0"/>
            <a:ext cx="5334000" cy="65627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1577429" cy="323403"/>
          </a:xfrm>
          <a:prstGeom prst="roundRect">
            <a:avLst>
              <a:gd name="adj" fmla="val 23561"/>
            </a:avLst>
          </a:prstGeom>
          <a:solidFill>
            <a:srgbClr val="F2EAEA"/>
          </a:solidFill>
          <a:ln w="9525">
            <a:solidFill>
              <a:srgbClr val="1E1E1E">
                <a:alpha val="7999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tIns="76200" rIns="76200" bIns="76200" lIns="76200"/>
          <a:lstStyle/>
          <a:p>
            <a:pPr algn="l">
              <a:lnSpc>
                <a:spcPts val="1197"/>
              </a:lnSpc>
            </a:pPr>
            <a:r>
              <a:rPr sz="900" spc="90">
                <a:solidFill>
                  <a:srgbClr val="7562AE"/>
                </a:solidFill>
                <a:latin typeface="Plus Jakarta Sans 600"/>
              </a:rPr>
              <a:t>STRUCTURAL FAILURE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56803"/>
            <a:ext cx="10744200" cy="361950"/>
          </a:xfrm>
          <a:prstGeom prst="roundRect">
            <a:avLst>
              <a:gd name="adj" fmla="val 21052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2700"/>
              </a:lnSpc>
            </a:pPr>
            <a:r>
              <a:rPr sz="2400" spc="-96">
                <a:solidFill>
                  <a:srgbClr val="3D3D3D"/>
                </a:solidFill>
                <a:latin typeface="Plus Jakarta Sans 400"/>
              </a:rPr>
              <a:t>The Problem: LLMs Are Structurally Blind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33053"/>
            <a:ext cx="10744200" cy="514350"/>
          </a:xfrm>
          <a:prstGeom prst="roundRect">
            <a:avLst>
              <a:gd name="adj" fmla="val 14814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2025"/>
              </a:lnSpc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LLMs are fundamentally </a:t>
            </a:r>
            <a:r>
              <a:rPr sz="1350" spc="0" b="1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System-1</a:t>
            </a: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 reasoners — fast and intuitive, but structurally blind. They fail silently on tasks with complex dependency graphs, hallucinating coherent but logically flawed conclusions.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14103"/>
            <a:ext cx="3530500" cy="3991421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>
            <a:noFill/>
          </a:ln>
          <a:effectLst>
            <a:outerShdw blurRad="457200" dist="0" dir="0" algn="tl" rotWithShape="0">
              <a:srgbClr val="666666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2845593"/>
            <a:ext cx="1270694" cy="151953"/>
          </a:xfrm>
          <a:prstGeom prst="rect">
            <a:avLst/>
          </a:prstGeom>
          <a:noFill/>
          <a:ln>
            <a:noFill/>
          </a:ln>
        </p:spPr>
        <p:txBody>
          <a:bodyPr wrap="none" tIns="0" rIns="0" bIns="0" lIns="0">
            <a:spAutoFit/>
          </a:bodyPr>
          <a:lstStyle/>
          <a:p>
            <a:pPr algn="l">
              <a:lnSpc>
                <a:spcPts val="1197"/>
              </a:lnSpc>
            </a:pPr>
            <a:r>
              <a:rPr sz="900" spc="90">
                <a:solidFill>
                  <a:srgbClr val="7562AE"/>
                </a:solidFill>
                <a:latin typeface="Plus Jakarta Sans 600"/>
              </a:rPr>
              <a:t>ATTENTION 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149947"/>
            <a:ext cx="29209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Lost in the Middle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492847"/>
            <a:ext cx="2920900" cy="914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Transformer attention degrades for mid-document information — context position determines what gets processed.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418903"/>
            <a:ext cx="198090" cy="19809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063900" y="2114103"/>
            <a:ext cx="3530649" cy="3991421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>
            <a:noFill/>
          </a:ln>
          <a:effectLst>
            <a:outerShdw blurRad="457200" dist="0" dir="0" algn="tl" rotWithShape="0">
              <a:srgbClr val="666666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8700" y="2845593"/>
            <a:ext cx="1152525" cy="151953"/>
          </a:xfrm>
          <a:prstGeom prst="rect">
            <a:avLst/>
          </a:prstGeom>
          <a:noFill/>
          <a:ln>
            <a:noFill/>
          </a:ln>
        </p:spPr>
        <p:txBody>
          <a:bodyPr wrap="none" tIns="0" rIns="0" bIns="0" lIns="0">
            <a:spAutoFit/>
          </a:bodyPr>
          <a:lstStyle/>
          <a:p>
            <a:pPr algn="l">
              <a:lnSpc>
                <a:spcPts val="1197"/>
              </a:lnSpc>
            </a:pPr>
            <a:r>
              <a:rPr sz="900" spc="90">
                <a:solidFill>
                  <a:srgbClr val="7562AE"/>
                </a:solidFill>
                <a:latin typeface="Plus Jakarta Sans 600"/>
              </a:rPr>
              <a:t>REASONING LIMIT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8700" y="3149947"/>
            <a:ext cx="2921049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Chain-of-Thought Breaks 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8700" y="3492847"/>
            <a:ext cx="2921049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CoT helps sequential reasoning but cannot handle branching or cyclic logic structures.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700" y="2418903"/>
            <a:ext cx="198090" cy="19809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670750" y="2114103"/>
            <a:ext cx="3530500" cy="3991421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>
            <a:noFill/>
          </a:ln>
          <a:effectLst>
            <a:outerShdw blurRad="457200" dist="0" dir="0" algn="tl" rotWithShape="0">
              <a:srgbClr val="666666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5550" y="2845593"/>
            <a:ext cx="1510754" cy="151953"/>
          </a:xfrm>
          <a:prstGeom prst="rect">
            <a:avLst/>
          </a:prstGeom>
          <a:noFill/>
          <a:ln>
            <a:noFill/>
          </a:ln>
        </p:spPr>
        <p:txBody>
          <a:bodyPr wrap="none" tIns="0" rIns="0" bIns="0" lIns="0">
            <a:spAutoFit/>
          </a:bodyPr>
          <a:lstStyle/>
          <a:p>
            <a:pPr algn="l">
              <a:lnSpc>
                <a:spcPts val="1197"/>
              </a:lnSpc>
            </a:pPr>
            <a:r>
              <a:rPr sz="900" spc="90">
                <a:solidFill>
                  <a:srgbClr val="7562AE"/>
                </a:solidFill>
                <a:latin typeface="Plus Jakarta Sans 600"/>
              </a:rPr>
              <a:t>BENCHMARK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5550" y="3149947"/>
            <a:ext cx="29209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GPT-4 Fails Structural Tasks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5550" y="3492847"/>
            <a:ext cx="29209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Even GPT-4 achieves modest F1 scores on tasks requiring cross-document structural consistency.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5550" y="2418903"/>
            <a:ext cx="198090" cy="1980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1194494" cy="323403"/>
          </a:xfrm>
          <a:prstGeom prst="roundRect">
            <a:avLst>
              <a:gd name="adj" fmla="val 23561"/>
            </a:avLst>
          </a:prstGeom>
          <a:solidFill>
            <a:srgbClr val="EBE8F1"/>
          </a:solidFill>
          <a:ln w="9525">
            <a:solidFill>
              <a:srgbClr val="1E1E1E">
                <a:alpha val="7999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tIns="76200" rIns="76200" bIns="76200" lIns="76200"/>
          <a:lstStyle/>
          <a:p>
            <a:pPr algn="l">
              <a:lnSpc>
                <a:spcPts val="1197"/>
              </a:lnSpc>
            </a:pPr>
            <a:r>
              <a:rPr sz="900" spc="90">
                <a:solidFill>
                  <a:srgbClr val="7562AE"/>
                </a:solidFill>
                <a:latin typeface="Plus Jakarta Sans 600"/>
              </a:rPr>
              <a:t>OUR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75853"/>
            <a:ext cx="10744200" cy="361950"/>
          </a:xfrm>
          <a:prstGeom prst="roundRect">
            <a:avLst>
              <a:gd name="adj" fmla="val 21052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2700"/>
              </a:lnSpc>
            </a:pPr>
            <a:r>
              <a:rPr sz="2400" spc="-96">
                <a:solidFill>
                  <a:srgbClr val="3D3D3D"/>
                </a:solidFill>
                <a:latin typeface="Plus Jakarta Sans 400"/>
              </a:rPr>
              <a:t>SA-MCGS: Search-Augmented Reasoning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52103"/>
            <a:ext cx="10744200" cy="514350"/>
          </a:xfrm>
          <a:prstGeom prst="roundRect">
            <a:avLst>
              <a:gd name="adj" fmla="val 14814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2025"/>
              </a:lnSpc>
            </a:pPr>
            <a:r>
              <a:rPr sz="1350" spc="0" b="1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Just as AlphaGo combined neural network intuition with MCTS to achieve superhuman Go play</a:t>
            </a: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, SA-MCGS augments LLMs with deliberate, search-based exploration — bringing System-2 reasoning to complex analytical tasks.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33153"/>
            <a:ext cx="5334000" cy="3972371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>
            <a:noFill/>
          </a:ln>
          <a:effectLst>
            <a:outerShdw blurRad="457200" dist="0" dir="0" algn="tl" rotWithShape="0">
              <a:srgbClr val="666666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3870" y="2437953"/>
            <a:ext cx="653504" cy="151953"/>
          </a:xfrm>
          <a:prstGeom prst="rect">
            <a:avLst/>
          </a:prstGeom>
          <a:noFill/>
          <a:ln>
            <a:noFill/>
          </a:ln>
        </p:spPr>
        <p:txBody>
          <a:bodyPr wrap="none" tIns="0" rIns="0" bIns="0" lIns="0">
            <a:spAutoFit/>
          </a:bodyPr>
          <a:lstStyle/>
          <a:p>
            <a:pPr algn="l">
              <a:lnSpc>
                <a:spcPts val="1197"/>
              </a:lnSpc>
            </a:pPr>
            <a:r>
              <a:rPr sz="900" spc="90">
                <a:solidFill>
                  <a:srgbClr val="7562AE"/>
                </a:solidFill>
                <a:latin typeface="Plus Jakarta Sans 600"/>
              </a:rPr>
              <a:t>SYSTEM-1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3870" y="2742307"/>
            <a:ext cx="4282529" cy="20568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620"/>
              </a:lnSpc>
            </a:pPr>
            <a:r>
              <a:rPr sz="1350" spc="-27">
                <a:solidFill>
                  <a:srgbClr val="3D3D3D"/>
                </a:solidFill>
                <a:latin typeface="Plus Jakarta Sans 500"/>
              </a:rPr>
              <a:t>LLM Fast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3870" y="3100387"/>
            <a:ext cx="4282529" cy="514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2025"/>
              </a:lnSpc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The LLM provides rapid, intuition-driven scoring and candidate generation across the problem space.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437953"/>
            <a:ext cx="213270" cy="21327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867400" y="2133153"/>
            <a:ext cx="5334000" cy="3972371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>
            <a:noFill/>
          </a:ln>
          <a:effectLst>
            <a:outerShdw blurRad="457200" dist="0" dir="0" algn="tl" rotWithShape="0">
              <a:srgbClr val="666666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4070" y="2437953"/>
            <a:ext cx="672554" cy="151953"/>
          </a:xfrm>
          <a:prstGeom prst="rect">
            <a:avLst/>
          </a:prstGeom>
          <a:noFill/>
          <a:ln>
            <a:noFill/>
          </a:ln>
        </p:spPr>
        <p:txBody>
          <a:bodyPr wrap="none" tIns="0" rIns="0" bIns="0" lIns="0">
            <a:spAutoFit/>
          </a:bodyPr>
          <a:lstStyle/>
          <a:p>
            <a:pPr algn="l">
              <a:lnSpc>
                <a:spcPts val="1197"/>
              </a:lnSpc>
            </a:pPr>
            <a:r>
              <a:rPr sz="900" spc="90">
                <a:solidFill>
                  <a:srgbClr val="7562AE"/>
                </a:solidFill>
                <a:latin typeface="Plus Jakarta Sans 600"/>
              </a:rPr>
              <a:t>SYSTEM-2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4070" y="2742307"/>
            <a:ext cx="4282529" cy="20568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620"/>
              </a:lnSpc>
            </a:pPr>
            <a:r>
              <a:rPr sz="1350" spc="-27">
                <a:solidFill>
                  <a:srgbClr val="3D3D3D"/>
                </a:solidFill>
                <a:latin typeface="Plus Jakarta Sans 500"/>
              </a:rPr>
              <a:t>Graph Search Deliberation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4070" y="3100387"/>
            <a:ext cx="4282529" cy="7715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2025"/>
              </a:lnSpc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Structured graph search explores solution spaces methodically, enabling deep reasoning beyond single-pass inference.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437953"/>
            <a:ext cx="213270" cy="2132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81000"/>
            <a:ext cx="10744200" cy="361950"/>
          </a:xfrm>
          <a:prstGeom prst="roundRect">
            <a:avLst>
              <a:gd name="adj" fmla="val 21052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2700"/>
              </a:lnSpc>
            </a:pPr>
            <a:r>
              <a:rPr sz="2400" spc="-96">
                <a:solidFill>
                  <a:srgbClr val="3D3D3D"/>
                </a:solidFill>
                <a:latin typeface="Plus Jakarta Sans 400"/>
              </a:rPr>
              <a:t>The Four-Phase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33450"/>
            <a:ext cx="10744200" cy="52482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33450"/>
            <a:ext cx="2600325" cy="52482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7700" y="1162050"/>
            <a:ext cx="699194" cy="323403"/>
          </a:xfrm>
          <a:prstGeom prst="roundRect">
            <a:avLst>
              <a:gd name="adj" fmla="val 23561"/>
            </a:avLst>
          </a:prstGeom>
          <a:solidFill>
            <a:srgbClr val="EBE8F1"/>
          </a:solidFill>
          <a:ln w="9525">
            <a:solidFill>
              <a:srgbClr val="1E1E1E">
                <a:alpha val="7999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tIns="76200" rIns="76200" bIns="76200" lIns="76200"/>
          <a:lstStyle/>
          <a:p>
            <a:pPr algn="l">
              <a:lnSpc>
                <a:spcPts val="1197"/>
              </a:lnSpc>
            </a:pPr>
            <a:r>
              <a:rPr sz="900" spc="90">
                <a:solidFill>
                  <a:srgbClr val="7562AE"/>
                </a:solidFill>
                <a:latin typeface="Plus Jakarta Sans 600"/>
              </a:rPr>
              <a:t>PHASE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7700" y="1580703"/>
            <a:ext cx="2219325" cy="819150"/>
          </a:xfrm>
          <a:prstGeom prst="roundRect">
            <a:avLst>
              <a:gd name="adj" fmla="val 9302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2196"/>
              </a:lnSpc>
            </a:pPr>
            <a:r>
              <a:rPr sz="1800" spc="-54">
                <a:solidFill>
                  <a:srgbClr val="3D3D3D"/>
                </a:solidFill>
                <a:latin typeface="Plus Jakarta Sans 400"/>
              </a:rPr>
              <a:t>Problem Decomposition</a:t>
            </a:r>
          </a:p>
          <a:p>
            <a:pPr algn="l">
              <a:lnSpc>
                <a:spcPts val="2025"/>
              </a:lnSpc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→ Graph Construction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7700" y="2552253"/>
            <a:ext cx="2219325" cy="5810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" y="2552253"/>
            <a:ext cx="2219325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Transform unstructured input into a dependency graph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7700" y="3247578"/>
            <a:ext cx="2219325" cy="809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700" y="3247578"/>
            <a:ext cx="2219325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 b="1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Five canonical dependency types:</a:t>
            </a: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 Defines, Constrains, Triggers, Modifies, References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7700" y="4171503"/>
            <a:ext cx="2219325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700" y="4171503"/>
            <a:ext cx="2219325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Two-pass extraction: explicit references + implicit semantic dependencies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71825" y="933450"/>
            <a:ext cx="2600325" cy="52482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62325" y="1162050"/>
            <a:ext cx="718244" cy="323403"/>
          </a:xfrm>
          <a:prstGeom prst="roundRect">
            <a:avLst>
              <a:gd name="adj" fmla="val 23561"/>
            </a:avLst>
          </a:prstGeom>
          <a:solidFill>
            <a:srgbClr val="DDDDDD"/>
          </a:solidFill>
          <a:ln w="9525">
            <a:solidFill>
              <a:srgbClr val="1E1E1E">
                <a:alpha val="7999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tIns="76200" rIns="76200" bIns="76200" lIns="76200"/>
          <a:lstStyle/>
          <a:p>
            <a:pPr algn="l">
              <a:lnSpc>
                <a:spcPts val="1197"/>
              </a:lnSpc>
            </a:pPr>
            <a:r>
              <a:rPr sz="900" spc="90">
                <a:solidFill>
                  <a:srgbClr val="7562AE"/>
                </a:solidFill>
                <a:latin typeface="Plus Jakarta Sans 600"/>
              </a:rPr>
              <a:t>PHASE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2325" y="1580703"/>
            <a:ext cx="2219325" cy="819150"/>
          </a:xfrm>
          <a:prstGeom prst="roundRect">
            <a:avLst>
              <a:gd name="adj" fmla="val 9302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2196"/>
              </a:lnSpc>
            </a:pPr>
            <a:r>
              <a:rPr sz="1800" spc="-54">
                <a:solidFill>
                  <a:srgbClr val="3D3D3D"/>
                </a:solidFill>
                <a:latin typeface="Plus Jakarta Sans 400"/>
              </a:rPr>
              <a:t>Bottleneck Identification</a:t>
            </a:r>
          </a:p>
          <a:p>
            <a:pPr algn="l">
              <a:lnSpc>
                <a:spcPts val="2025"/>
              </a:lnSpc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→ SCC Detection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2325" y="2552253"/>
            <a:ext cx="2219325" cy="809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62325" y="2552253"/>
            <a:ext cx="2219325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Apply </a:t>
            </a:r>
            <a:r>
              <a:rPr sz="1200" spc="0" b="1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Tarjan's algorithm</a:t>
            </a: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 to find Strongly Connected Components (SCCs)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62325" y="3476178"/>
            <a:ext cx="2219325" cy="809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62325" y="3476178"/>
            <a:ext cx="2219325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SCCs are 'logic kernels' where circular dependencies create reasoning bottlenecks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62325" y="4400103"/>
            <a:ext cx="2219325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62325" y="4400103"/>
            <a:ext cx="2219325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Focus expensive search operations exclusively on these bottlenecks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86450" y="933450"/>
            <a:ext cx="2600325" cy="52482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076950" y="1162050"/>
            <a:ext cx="718244" cy="323403"/>
          </a:xfrm>
          <a:prstGeom prst="roundRect">
            <a:avLst>
              <a:gd name="adj" fmla="val 23561"/>
            </a:avLst>
          </a:prstGeom>
          <a:solidFill>
            <a:srgbClr val="F1EEE3"/>
          </a:solidFill>
          <a:ln w="9525">
            <a:solidFill>
              <a:srgbClr val="1E1E1E">
                <a:alpha val="7999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tIns="76200" rIns="76200" bIns="76200" lIns="76200"/>
          <a:lstStyle/>
          <a:p>
            <a:pPr algn="l">
              <a:lnSpc>
                <a:spcPts val="1197"/>
              </a:lnSpc>
            </a:pPr>
            <a:r>
              <a:rPr sz="900" spc="90">
                <a:solidFill>
                  <a:srgbClr val="7562AE"/>
                </a:solidFill>
                <a:latin typeface="Plus Jakarta Sans 600"/>
              </a:rPr>
              <a:t>PHASE 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76950" y="1580703"/>
            <a:ext cx="2219325" cy="561975"/>
          </a:xfrm>
          <a:prstGeom prst="roundRect">
            <a:avLst>
              <a:gd name="adj" fmla="val 13559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2196"/>
              </a:lnSpc>
            </a:pPr>
            <a:r>
              <a:rPr sz="1800" spc="-54">
                <a:solidFill>
                  <a:srgbClr val="3D3D3D"/>
                </a:solidFill>
                <a:latin typeface="Plus Jakarta Sans 400"/>
              </a:rPr>
              <a:t>Monte Carlo Graph Search (MCGS)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950" y="2295078"/>
            <a:ext cx="2219325" cy="5810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76950" y="2295078"/>
            <a:ext cx="2219325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 b="1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AlphaGo-inspired</a:t>
            </a: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 search with UCB selection + Dirichlet noise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76950" y="2990403"/>
            <a:ext cx="2219325" cy="809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76950" y="2990403"/>
            <a:ext cx="2219325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 b="1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Transposition Tables</a:t>
            </a: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 for handling cyclic graphs efficiently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76950" y="3914328"/>
            <a:ext cx="2219325" cy="5810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76950" y="3914328"/>
            <a:ext cx="2219325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 b="1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Virtual Loss</a:t>
            </a: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 for parallel LLM evaluation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76950" y="4609653"/>
            <a:ext cx="2219325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76950" y="4609653"/>
            <a:ext cx="2219325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 b="1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Semantic Pruning (TACS)</a:t>
            </a: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 reduces search space by up to 75%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01075" y="933450"/>
            <a:ext cx="2600325" cy="52482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791575" y="1162050"/>
            <a:ext cx="727769" cy="323403"/>
          </a:xfrm>
          <a:prstGeom prst="roundRect">
            <a:avLst>
              <a:gd name="adj" fmla="val 23561"/>
            </a:avLst>
          </a:prstGeom>
          <a:solidFill>
            <a:srgbClr val="E6EEE8"/>
          </a:solidFill>
          <a:ln w="9525">
            <a:solidFill>
              <a:srgbClr val="1E1E1E">
                <a:alpha val="7999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tIns="76200" rIns="76200" bIns="76200" lIns="76200"/>
          <a:lstStyle/>
          <a:p>
            <a:pPr algn="l">
              <a:lnSpc>
                <a:spcPts val="1197"/>
              </a:lnSpc>
            </a:pPr>
            <a:r>
              <a:rPr sz="900" spc="90">
                <a:solidFill>
                  <a:srgbClr val="7562AE"/>
                </a:solidFill>
                <a:latin typeface="Plus Jakarta Sans 600"/>
              </a:rPr>
              <a:t>PHASE 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91575" y="1580703"/>
            <a:ext cx="2219325" cy="793105"/>
          </a:xfrm>
          <a:prstGeom prst="roundRect">
            <a:avLst>
              <a:gd name="adj" fmla="val 9607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2196"/>
              </a:lnSpc>
            </a:pPr>
            <a:r>
              <a:rPr sz="1800" spc="-54">
                <a:solidFill>
                  <a:srgbClr val="3D3D3D"/>
                </a:solidFill>
                <a:latin typeface="Plus Jakarta Sans 400"/>
              </a:rPr>
              <a:t>Statistical Calibration</a:t>
            </a:r>
          </a:p>
          <a:p>
            <a:pPr algn="l">
              <a:lnSpc>
                <a:spcPts val="2025"/>
              </a:lnSpc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→ Online Conformal Prediction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91575" y="2526208"/>
            <a:ext cx="2219325" cy="5810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91575" y="2526208"/>
            <a:ext cx="2219325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Transforms noisy LLM outputs into reliable verdicts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91575" y="3221533"/>
            <a:ext cx="2219325" cy="5810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91575" y="3221533"/>
            <a:ext cx="2219325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Maintains pre-specified </a:t>
            </a:r>
            <a:r>
              <a:rPr sz="1200" spc="0" b="1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False Discovery Rate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91575" y="3916858"/>
            <a:ext cx="2219325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91575" y="3916858"/>
            <a:ext cx="2219325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Domain-agnostic: can wrap any search-augmented reasoning system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47700" y="3133278"/>
            <a:ext cx="2219325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47700" y="4057203"/>
            <a:ext cx="2219325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362325" y="3361878"/>
            <a:ext cx="2219325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362325" y="4285803"/>
            <a:ext cx="2219325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076950" y="2876103"/>
            <a:ext cx="2219325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076950" y="3800028"/>
            <a:ext cx="2219325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076950" y="4495353"/>
            <a:ext cx="2219325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791575" y="3107233"/>
            <a:ext cx="2219325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791575" y="3802558"/>
            <a:ext cx="2219325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10744200" cy="361950"/>
          </a:xfrm>
          <a:prstGeom prst="roundRect">
            <a:avLst>
              <a:gd name="adj" fmla="val 21052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2700"/>
              </a:lnSpc>
            </a:pPr>
            <a:r>
              <a:rPr sz="2400" spc="-96">
                <a:solidFill>
                  <a:srgbClr val="3D3D3D"/>
                </a:solidFill>
                <a:latin typeface="Plus Jakarta Sans 400"/>
              </a:rPr>
              <a:t>Case Study: Legal Contract Risk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23950"/>
            <a:ext cx="10744200" cy="49815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23950"/>
            <a:ext cx="4876800" cy="49815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23950"/>
            <a:ext cx="1838325" cy="323403"/>
          </a:xfrm>
          <a:prstGeom prst="roundRect">
            <a:avLst>
              <a:gd name="adj" fmla="val 23561"/>
            </a:avLst>
          </a:prstGeom>
          <a:solidFill>
            <a:srgbClr val="EBE8F1"/>
          </a:solidFill>
          <a:ln w="9525">
            <a:solidFill>
              <a:srgbClr val="1E1E1E">
                <a:alpha val="7999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tIns="76200" rIns="76200" bIns="76200" lIns="76200"/>
          <a:lstStyle/>
          <a:p>
            <a:pPr algn="l">
              <a:lnSpc>
                <a:spcPts val="1197"/>
              </a:lnSpc>
            </a:pPr>
            <a:r>
              <a:rPr sz="900" spc="90">
                <a:solidFill>
                  <a:srgbClr val="7562AE"/>
                </a:solidFill>
                <a:latin typeface="Plus Jakarta Sans 600"/>
              </a:rPr>
              <a:t>WHY LEGAL CONTRACTS?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61653"/>
            <a:ext cx="4876800" cy="257175"/>
          </a:xfrm>
          <a:prstGeom prst="roundRect">
            <a:avLst>
              <a:gd name="adj" fmla="val 29629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2025"/>
              </a:lnSpc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An ideal testbed for graph-based reasoning: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71228"/>
            <a:ext cx="4876800" cy="12415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560" y="2377678"/>
            <a:ext cx="4465439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Rich in cyclic dependencies between clauses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81547"/>
            <a:ext cx="182760" cy="1827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57200" y="3441352"/>
            <a:ext cx="4876800" cy="1432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560" y="3847802"/>
            <a:ext cx="4465439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Verifiable ground truth — contradictions, omissions, inconsistencies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46921"/>
            <a:ext cx="182760" cy="1827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57200" y="5101976"/>
            <a:ext cx="4876800" cy="10035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560" y="5508426"/>
            <a:ext cx="4465439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Known LLM failures documented in literature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512296"/>
            <a:ext cx="182760" cy="18276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715000" y="1123950"/>
            <a:ext cx="5486400" cy="4981575"/>
          </a:xfrm>
          <a:prstGeom prst="rect">
            <a:avLst/>
          </a:prstGeom>
          <a:solidFill>
            <a:srgbClr val="8C75D1">
              <a:alpha val="784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19800" y="1428750"/>
            <a:ext cx="1577429" cy="323403"/>
          </a:xfrm>
          <a:prstGeom prst="roundRect">
            <a:avLst>
              <a:gd name="adj" fmla="val 23561"/>
            </a:avLst>
          </a:prstGeom>
          <a:solidFill>
            <a:srgbClr val="F4F4F5"/>
          </a:solidFill>
          <a:ln w="9525">
            <a:solidFill>
              <a:srgbClr val="1E1E1E">
                <a:alpha val="7999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tIns="76200" rIns="76200" bIns="76200" lIns="76200"/>
          <a:lstStyle/>
          <a:p>
            <a:pPr algn="l">
              <a:lnSpc>
                <a:spcPts val="1197"/>
              </a:lnSpc>
            </a:pPr>
            <a:r>
              <a:rPr sz="900" spc="90">
                <a:solidFill>
                  <a:srgbClr val="7562AE"/>
                </a:solidFill>
                <a:latin typeface="Plus Jakarta Sans 600"/>
              </a:rPr>
              <a:t>EXPERIMENTAL SETUP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19800" y="1980753"/>
            <a:ext cx="4876800" cy="155272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19800" y="1980753"/>
            <a:ext cx="369689" cy="151953"/>
          </a:xfrm>
          <a:prstGeom prst="rect">
            <a:avLst/>
          </a:prstGeom>
          <a:noFill/>
          <a:ln>
            <a:noFill/>
          </a:ln>
        </p:spPr>
        <p:txBody>
          <a:bodyPr wrap="none" tIns="0" rIns="0" bIns="0" lIns="0">
            <a:spAutoFit/>
          </a:bodyPr>
          <a:lstStyle/>
          <a:p>
            <a:pPr algn="l">
              <a:lnSpc>
                <a:spcPts val="1197"/>
              </a:lnSpc>
            </a:pPr>
            <a:r>
              <a:rPr sz="900" spc="90">
                <a:solidFill>
                  <a:srgbClr val="7562AE"/>
                </a:solidFill>
                <a:latin typeface="Plus Jakarta Sans 600"/>
              </a:rPr>
              <a:t>RUNS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19800" y="2208907"/>
            <a:ext cx="4876800" cy="27875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2196"/>
              </a:lnSpc>
            </a:pPr>
            <a:r>
              <a:rPr sz="1800" spc="-54">
                <a:solidFill>
                  <a:srgbClr val="3D3D3D"/>
                </a:solidFill>
                <a:latin typeface="Plus Jakarta Sans 400"/>
              </a:rPr>
              <a:t>141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19800" y="3838277"/>
            <a:ext cx="4876800" cy="15528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19800" y="3838277"/>
            <a:ext cx="563909" cy="151953"/>
          </a:xfrm>
          <a:prstGeom prst="rect">
            <a:avLst/>
          </a:prstGeom>
          <a:noFill/>
          <a:ln>
            <a:noFill/>
          </a:ln>
        </p:spPr>
        <p:txBody>
          <a:bodyPr wrap="none" tIns="0" rIns="0" bIns="0" lIns="0">
            <a:spAutoFit/>
          </a:bodyPr>
          <a:lstStyle/>
          <a:p>
            <a:pPr algn="l">
              <a:lnSpc>
                <a:spcPts val="1197"/>
              </a:lnSpc>
            </a:pPr>
            <a:r>
              <a:rPr sz="900" spc="90">
                <a:solidFill>
                  <a:srgbClr val="7562AE"/>
                </a:solidFill>
                <a:latin typeface="Plus Jakarta Sans 600"/>
              </a:rPr>
              <a:t>SOURCE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19800" y="4066430"/>
            <a:ext cx="4876800" cy="27875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2196"/>
              </a:lnSpc>
            </a:pPr>
            <a:r>
              <a:rPr sz="1800" spc="-54">
                <a:solidFill>
                  <a:srgbClr val="3D3D3D"/>
                </a:solidFill>
                <a:latin typeface="Plus Jakarta Sans 400"/>
              </a:rPr>
              <a:t>5 commercial contracts — CUAD dataset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19800" y="5543550"/>
            <a:ext cx="4876800" cy="257175"/>
          </a:xfrm>
          <a:prstGeom prst="roundRect">
            <a:avLst>
              <a:gd name="adj" fmla="val 29629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2025"/>
              </a:lnSpc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Ground truth via </a:t>
            </a:r>
            <a:r>
              <a:rPr sz="1350" spc="0" b="1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CLAUSE benchmark</a:t>
            </a: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 defect injections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7200" y="3212752"/>
            <a:ext cx="4876800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57200" y="4873376"/>
            <a:ext cx="4876800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10744200" cy="361950"/>
          </a:xfrm>
          <a:prstGeom prst="roundRect">
            <a:avLst>
              <a:gd name="adj" fmla="val 21052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2700"/>
              </a:lnSpc>
            </a:pPr>
            <a:r>
              <a:rPr sz="2400" spc="-96">
                <a:solidFill>
                  <a:srgbClr val="3D3D3D"/>
                </a:solidFill>
                <a:latin typeface="Plus Jakarta Sans 400"/>
              </a:rPr>
              <a:t>Key Results: SA-MCGS vs. LLM Baselines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5350"/>
            <a:ext cx="10744200" cy="257175"/>
          </a:xfrm>
          <a:prstGeom prst="roundRect">
            <a:avLst>
              <a:gd name="adj" fmla="val 29629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2025"/>
              </a:lnSpc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Detection Performance (F1 Score) across three defect categories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43025"/>
            <a:ext cx="2686050" cy="380553"/>
          </a:xfrm>
          <a:prstGeom prst="rect">
            <a:avLst/>
          </a:prstGeom>
          <a:noFill/>
          <a:ln>
            <a:noFill/>
          </a:ln>
        </p:spPr>
        <p:txBody>
          <a:bodyPr wrap="square" tIns="114300" rIns="114300" bIns="114300" lIns="114300">
            <a:spAutoFit/>
          </a:bodyPr>
          <a:lstStyle/>
          <a:p>
            <a:pPr algn="l">
              <a:lnSpc>
                <a:spcPts val="1197"/>
              </a:lnSpc>
            </a:pPr>
            <a:r>
              <a:rPr sz="900" spc="90">
                <a:solidFill>
                  <a:srgbClr val="3D3D3D"/>
                </a:solidFill>
                <a:latin typeface="Plus Jakarta Sans 500"/>
              </a:rPr>
              <a:t>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43250" y="1343025"/>
            <a:ext cx="2686050" cy="380553"/>
          </a:xfrm>
          <a:prstGeom prst="rect">
            <a:avLst/>
          </a:prstGeom>
          <a:noFill/>
          <a:ln>
            <a:noFill/>
          </a:ln>
        </p:spPr>
        <p:txBody>
          <a:bodyPr wrap="square" tIns="114300" rIns="114300" bIns="114300" lIns="114300">
            <a:spAutoFit/>
          </a:bodyPr>
          <a:lstStyle/>
          <a:p>
            <a:pPr algn="l">
              <a:lnSpc>
                <a:spcPts val="1197"/>
              </a:lnSpc>
            </a:pPr>
            <a:r>
              <a:rPr sz="900" spc="90">
                <a:solidFill>
                  <a:srgbClr val="3D3D3D"/>
                </a:solidFill>
                <a:latin typeface="Plus Jakarta Sans 500"/>
              </a:rPr>
              <a:t>Structural Flaws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9300" y="1343025"/>
            <a:ext cx="2686050" cy="380553"/>
          </a:xfrm>
          <a:prstGeom prst="rect">
            <a:avLst/>
          </a:prstGeom>
          <a:noFill/>
          <a:ln>
            <a:noFill/>
          </a:ln>
        </p:spPr>
        <p:txBody>
          <a:bodyPr wrap="square" tIns="114300" rIns="114300" bIns="114300" lIns="114300">
            <a:spAutoFit/>
          </a:bodyPr>
          <a:lstStyle/>
          <a:p>
            <a:pPr algn="l">
              <a:lnSpc>
                <a:spcPts val="1197"/>
              </a:lnSpc>
            </a:pPr>
            <a:r>
              <a:rPr sz="900" spc="90">
                <a:solidFill>
                  <a:srgbClr val="3D3D3D"/>
                </a:solidFill>
                <a:latin typeface="Plus Jakarta Sans 500"/>
              </a:rPr>
              <a:t>Omissions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5350" y="1343025"/>
            <a:ext cx="2686050" cy="380553"/>
          </a:xfrm>
          <a:prstGeom prst="rect">
            <a:avLst/>
          </a:prstGeom>
          <a:noFill/>
          <a:ln>
            <a:noFill/>
          </a:ln>
        </p:spPr>
        <p:txBody>
          <a:bodyPr wrap="square" tIns="114300" rIns="114300" bIns="114300" lIns="114300">
            <a:spAutoFit/>
          </a:bodyPr>
          <a:lstStyle/>
          <a:p>
            <a:pPr algn="l">
              <a:lnSpc>
                <a:spcPts val="1197"/>
              </a:lnSpc>
            </a:pPr>
            <a:r>
              <a:rPr sz="900" spc="90">
                <a:solidFill>
                  <a:srgbClr val="3D3D3D"/>
                </a:solidFill>
                <a:latin typeface="Plus Jakarta Sans 500"/>
              </a:rPr>
              <a:t>Inconsistencies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23578"/>
            <a:ext cx="2686050" cy="466725"/>
          </a:xfrm>
          <a:prstGeom prst="rect">
            <a:avLst/>
          </a:prstGeom>
          <a:noFill/>
          <a:ln>
            <a:noFill/>
          </a:ln>
        </p:spPr>
        <p:txBody>
          <a:bodyPr wrap="square" tIns="114300" rIns="114300" bIns="114300" lIns="11430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LLaMA-3.3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43250" y="1723578"/>
            <a:ext cx="2686050" cy="466725"/>
          </a:xfrm>
          <a:prstGeom prst="rect">
            <a:avLst/>
          </a:prstGeom>
          <a:noFill/>
          <a:ln>
            <a:noFill/>
          </a:ln>
        </p:spPr>
        <p:txBody>
          <a:bodyPr wrap="square" tIns="114300" rIns="114300" bIns="114300" lIns="11430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0.15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29300" y="1723578"/>
            <a:ext cx="2686050" cy="466725"/>
          </a:xfrm>
          <a:prstGeom prst="rect">
            <a:avLst/>
          </a:prstGeom>
          <a:noFill/>
          <a:ln>
            <a:noFill/>
          </a:ln>
        </p:spPr>
        <p:txBody>
          <a:bodyPr wrap="square" tIns="114300" rIns="114300" bIns="114300" lIns="11430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0.50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15350" y="1723578"/>
            <a:ext cx="2686050" cy="466725"/>
          </a:xfrm>
          <a:prstGeom prst="rect">
            <a:avLst/>
          </a:prstGeom>
          <a:noFill/>
          <a:ln>
            <a:noFill/>
          </a:ln>
        </p:spPr>
        <p:txBody>
          <a:bodyPr wrap="square" tIns="114300" rIns="114300" bIns="114300" lIns="11430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0.55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190303"/>
            <a:ext cx="2686050" cy="466725"/>
          </a:xfrm>
          <a:prstGeom prst="rect">
            <a:avLst/>
          </a:prstGeom>
          <a:noFill/>
          <a:ln>
            <a:noFill/>
          </a:ln>
        </p:spPr>
        <p:txBody>
          <a:bodyPr wrap="square" tIns="114300" rIns="114300" bIns="114300" lIns="11430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GPT-4o-mini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3250" y="2190303"/>
            <a:ext cx="2686050" cy="466725"/>
          </a:xfrm>
          <a:prstGeom prst="rect">
            <a:avLst/>
          </a:prstGeom>
          <a:noFill/>
          <a:ln>
            <a:noFill/>
          </a:ln>
        </p:spPr>
        <p:txBody>
          <a:bodyPr wrap="square" tIns="114300" rIns="114300" bIns="114300" lIns="11430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0.47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29300" y="2190303"/>
            <a:ext cx="2686050" cy="466725"/>
          </a:xfrm>
          <a:prstGeom prst="rect">
            <a:avLst/>
          </a:prstGeom>
          <a:noFill/>
          <a:ln>
            <a:noFill/>
          </a:ln>
        </p:spPr>
        <p:txBody>
          <a:bodyPr wrap="square" tIns="114300" rIns="114300" bIns="114300" lIns="11430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0.45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5350" y="2190303"/>
            <a:ext cx="2686050" cy="466725"/>
          </a:xfrm>
          <a:prstGeom prst="rect">
            <a:avLst/>
          </a:prstGeom>
          <a:noFill/>
          <a:ln>
            <a:noFill/>
          </a:ln>
        </p:spPr>
        <p:txBody>
          <a:bodyPr wrap="square" tIns="114300" rIns="114300" bIns="114300" lIns="11430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0.44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657028"/>
            <a:ext cx="2686050" cy="466725"/>
          </a:xfrm>
          <a:prstGeom prst="rect">
            <a:avLst/>
          </a:prstGeom>
          <a:noFill/>
          <a:ln>
            <a:noFill/>
          </a:ln>
        </p:spPr>
        <p:txBody>
          <a:bodyPr wrap="square" tIns="114300" rIns="114300" bIns="114300" lIns="11430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Gemini-2.5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43250" y="2657028"/>
            <a:ext cx="2686050" cy="466725"/>
          </a:xfrm>
          <a:prstGeom prst="rect">
            <a:avLst/>
          </a:prstGeom>
          <a:noFill/>
          <a:ln>
            <a:noFill/>
          </a:ln>
        </p:spPr>
        <p:txBody>
          <a:bodyPr wrap="square" tIns="114300" rIns="114300" bIns="114300" lIns="11430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0.47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29300" y="2657028"/>
            <a:ext cx="2686050" cy="466725"/>
          </a:xfrm>
          <a:prstGeom prst="rect">
            <a:avLst/>
          </a:prstGeom>
          <a:noFill/>
          <a:ln>
            <a:noFill/>
          </a:ln>
        </p:spPr>
        <p:txBody>
          <a:bodyPr wrap="square" tIns="114300" rIns="114300" bIns="114300" lIns="11430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0.64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5350" y="2657028"/>
            <a:ext cx="2686050" cy="466725"/>
          </a:xfrm>
          <a:prstGeom prst="rect">
            <a:avLst/>
          </a:prstGeom>
          <a:noFill/>
          <a:ln>
            <a:noFill/>
          </a:ln>
        </p:spPr>
        <p:txBody>
          <a:bodyPr wrap="square" tIns="114300" rIns="114300" bIns="114300" lIns="11430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0.64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123753"/>
            <a:ext cx="2686050" cy="466725"/>
          </a:xfrm>
          <a:prstGeom prst="rect">
            <a:avLst/>
          </a:prstGeom>
          <a:noFill/>
          <a:ln>
            <a:noFill/>
          </a:ln>
        </p:spPr>
        <p:txBody>
          <a:bodyPr wrap="square" tIns="114300" rIns="114300" bIns="114300" lIns="11430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 b="1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SA-MCGS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43250" y="3123753"/>
            <a:ext cx="2686050" cy="466725"/>
          </a:xfrm>
          <a:prstGeom prst="rect">
            <a:avLst/>
          </a:prstGeom>
          <a:noFill/>
          <a:ln>
            <a:noFill/>
          </a:ln>
        </p:spPr>
        <p:txBody>
          <a:bodyPr wrap="square" tIns="114300" rIns="114300" bIns="114300" lIns="11430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 b="1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1.00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29300" y="3123753"/>
            <a:ext cx="2686050" cy="466725"/>
          </a:xfrm>
          <a:prstGeom prst="rect">
            <a:avLst/>
          </a:prstGeom>
          <a:noFill/>
          <a:ln>
            <a:noFill/>
          </a:ln>
        </p:spPr>
        <p:txBody>
          <a:bodyPr wrap="square" tIns="114300" rIns="114300" bIns="114300" lIns="11430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 b="1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1.00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15350" y="3123753"/>
            <a:ext cx="2686050" cy="466725"/>
          </a:xfrm>
          <a:prstGeom prst="rect">
            <a:avLst/>
          </a:prstGeom>
          <a:noFill/>
          <a:ln>
            <a:noFill/>
          </a:ln>
        </p:spPr>
        <p:txBody>
          <a:bodyPr wrap="square" tIns="114300" rIns="114300" bIns="114300" lIns="11430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 b="1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1.00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819078"/>
            <a:ext cx="10744200" cy="1047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819078"/>
            <a:ext cx="5295900" cy="1047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7200" y="3819078"/>
            <a:ext cx="5295900" cy="104775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>
            <a:noFill/>
          </a:ln>
          <a:effectLst>
            <a:outerShdw blurRad="457200" dist="0" dir="0" algn="tl" rotWithShape="0">
              <a:srgbClr val="666666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1480" y="3971478"/>
            <a:ext cx="4709219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SA-MCGS: Perfect Detection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480" y="4257228"/>
            <a:ext cx="4709219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Achieves 100% F1 score across all defect categories within SCC scope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971478"/>
            <a:ext cx="167580" cy="1675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5905500" y="3819078"/>
            <a:ext cx="5295900" cy="1047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905500" y="3819078"/>
            <a:ext cx="5295900" cy="104775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>
            <a:noFill/>
          </a:ln>
          <a:effectLst>
            <a:outerShdw blurRad="457200" dist="0" dir="0" algn="tl" rotWithShape="0">
              <a:srgbClr val="666666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9780" y="3971478"/>
            <a:ext cx="4709219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Best LLM Baseline: Only 47%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9780" y="4257228"/>
            <a:ext cx="4709219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Top LLM competitor reaches just 0.47 F1 on structural flaws — the most critical defect type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900" y="3971478"/>
            <a:ext cx="167580" cy="167580"/>
          </a:xfrm>
          <a:prstGeom prst="rect">
            <a:avLst/>
          </a:prstGeom>
        </p:spPr>
      </p:pic>
      <p:cxnSp>
        <p:nvCxnSpPr>
          <p:cNvPr id="37" name="Connector 36"/>
          <p:cNvCxnSpPr/>
          <p:nvPr/>
        </p:nvCxnSpPr>
        <p:spPr>
          <a:xfrm>
            <a:off x="457200" y="1723578"/>
            <a:ext cx="10744200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57200" y="2190303"/>
            <a:ext cx="10744200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7200" y="2657028"/>
            <a:ext cx="10744200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200" y="3123753"/>
            <a:ext cx="10744200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1344959" cy="323403"/>
          </a:xfrm>
          <a:prstGeom prst="roundRect">
            <a:avLst>
              <a:gd name="adj" fmla="val 23561"/>
            </a:avLst>
          </a:prstGeom>
          <a:solidFill>
            <a:srgbClr val="F2EAEA"/>
          </a:solidFill>
          <a:ln w="9525">
            <a:solidFill>
              <a:srgbClr val="1E1E1E">
                <a:alpha val="7999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tIns="76200" rIns="76200" bIns="76200" lIns="76200"/>
          <a:lstStyle/>
          <a:p>
            <a:pPr algn="l">
              <a:lnSpc>
                <a:spcPts val="1197"/>
              </a:lnSpc>
            </a:pPr>
            <a:r>
              <a:rPr sz="900" spc="90">
                <a:solidFill>
                  <a:srgbClr val="7562AE"/>
                </a:solidFill>
                <a:latin typeface="Plus Jakarta Sans 600"/>
              </a:rPr>
              <a:t>CRITICAL FINDING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94903"/>
            <a:ext cx="10744200" cy="361950"/>
          </a:xfrm>
          <a:prstGeom prst="roundRect">
            <a:avLst>
              <a:gd name="adj" fmla="val 21052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2700"/>
              </a:lnSpc>
            </a:pPr>
            <a:r>
              <a:rPr sz="2400" spc="-96">
                <a:solidFill>
                  <a:srgbClr val="3D3D3D"/>
                </a:solidFill>
                <a:latin typeface="Plus Jakarta Sans 400"/>
              </a:rPr>
              <a:t>The Scaling Collapse of Pure LLM Reasoning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153"/>
            <a:ext cx="10744200" cy="514350"/>
          </a:xfrm>
          <a:prstGeom prst="roundRect">
            <a:avLst>
              <a:gd name="adj" fmla="val 14814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2025"/>
              </a:lnSpc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Beyond </a:t>
            </a:r>
            <a:r>
              <a:rPr sz="1350" spc="0" b="1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60–80 interdependent elements</a:t>
            </a: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, pure LLM reasoning catastrophically fails — SA-MCGS becomes mandatory at </a:t>
            </a:r>
            <a:r>
              <a:rPr sz="1350" spc="0" b="1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200+ clauses</a:t>
            </a: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14103"/>
            <a:ext cx="2690812" cy="399603"/>
          </a:xfrm>
          <a:prstGeom prst="roundRect">
            <a:avLst>
              <a:gd name="adj" fmla="val 0"/>
            </a:avLst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14300" rIns="152400" bIns="114300" lIns="152400"/>
          <a:lstStyle/>
          <a:p>
            <a:pPr algn="l">
              <a:lnSpc>
                <a:spcPts val="1197"/>
              </a:lnSpc>
            </a:pPr>
            <a:r>
              <a:rPr sz="900" spc="90">
                <a:solidFill>
                  <a:srgbClr val="3D3D3D"/>
                </a:solidFill>
                <a:latin typeface="Plus Jakarta Sans 500"/>
              </a:rPr>
              <a:t>Scale (Clauses)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48012" y="2114103"/>
            <a:ext cx="2681287" cy="399603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tIns="114300" rIns="152400" bIns="114300" lIns="152400">
            <a:spAutoFit/>
          </a:bodyPr>
          <a:lstStyle/>
          <a:p>
            <a:pPr algn="l">
              <a:lnSpc>
                <a:spcPts val="1197"/>
              </a:lnSpc>
            </a:pPr>
            <a:r>
              <a:rPr sz="900" spc="90">
                <a:solidFill>
                  <a:srgbClr val="3D3D3D"/>
                </a:solidFill>
                <a:latin typeface="Plus Jakarta Sans 500"/>
              </a:rPr>
              <a:t>Type A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29300" y="2114103"/>
            <a:ext cx="2681287" cy="399603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tIns="114300" rIns="152400" bIns="114300" lIns="152400">
            <a:spAutoFit/>
          </a:bodyPr>
          <a:lstStyle/>
          <a:p>
            <a:pPr algn="l">
              <a:lnSpc>
                <a:spcPts val="1197"/>
              </a:lnSpc>
            </a:pPr>
            <a:r>
              <a:rPr sz="900" spc="90">
                <a:solidFill>
                  <a:srgbClr val="3D3D3D"/>
                </a:solidFill>
                <a:latin typeface="Plus Jakarta Sans 500"/>
              </a:rPr>
              <a:t>Type C Detection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10587" y="2114103"/>
            <a:ext cx="2690812" cy="399603"/>
          </a:xfrm>
          <a:prstGeom prst="roundRect">
            <a:avLst>
              <a:gd name="adj" fmla="val 0"/>
            </a:avLst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14300" rIns="152400" bIns="114300" lIns="152400"/>
          <a:lstStyle/>
          <a:p>
            <a:pPr algn="l">
              <a:lnSpc>
                <a:spcPts val="1197"/>
              </a:lnSpc>
            </a:pPr>
            <a:r>
              <a:rPr sz="900" spc="90">
                <a:solidFill>
                  <a:srgbClr val="3D3D3D"/>
                </a:solidFill>
                <a:latin typeface="Plus Jakarta Sans 500"/>
              </a:rPr>
              <a:t>Verdict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13707"/>
            <a:ext cx="2690812" cy="466725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tIns="114300" rIns="152400" bIns="114300" lIns="15240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5–50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48012" y="2513707"/>
            <a:ext cx="2681287" cy="466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tIns="114300" rIns="152400" bIns="114300" lIns="15240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9300" y="2513707"/>
            <a:ext cx="2681287" cy="466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tIns="114300" rIns="152400" bIns="114300" lIns="15240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0–40%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10587" y="2513707"/>
            <a:ext cx="2690812" cy="466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tIns="114300" rIns="152400" bIns="114300" lIns="15240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LLM sufficient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80432"/>
            <a:ext cx="2690812" cy="466725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wrap="square" tIns="114300" rIns="152400" bIns="114300" lIns="15240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60–80  ⚡ Tipping 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48012" y="2980432"/>
            <a:ext cx="2681287" cy="466725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wrap="square" tIns="114300" rIns="152400" bIns="114300" lIns="15240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80–100%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29300" y="2980432"/>
            <a:ext cx="2681287" cy="466725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wrap="square" tIns="114300" rIns="152400" bIns="114300" lIns="15240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10587" y="2980432"/>
            <a:ext cx="2690812" cy="466725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wrap="square" tIns="114300" rIns="152400" bIns="114300" lIns="15240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Tipping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47157"/>
            <a:ext cx="2690812" cy="466725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tIns="114300" rIns="152400" bIns="114300" lIns="15240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100–150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48012" y="3447157"/>
            <a:ext cx="2681287" cy="466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tIns="114300" rIns="152400" bIns="114300" lIns="15240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60–80%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29300" y="3447157"/>
            <a:ext cx="2681287" cy="466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tIns="114300" rIns="152400" bIns="114300" lIns="15240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10587" y="3447157"/>
            <a:ext cx="2690812" cy="466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tIns="114300" rIns="152400" bIns="114300" lIns="15240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Search needed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913882"/>
            <a:ext cx="2690812" cy="466725"/>
          </a:xfrm>
          <a:prstGeom prst="roundRect">
            <a:avLst>
              <a:gd name="adj" fmla="val 0"/>
            </a:avLst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14300" rIns="152400" bIns="114300" lIns="152400"/>
          <a:lstStyle/>
          <a:p>
            <a:pPr algn="l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200+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48012" y="3913882"/>
            <a:ext cx="2681287" cy="466725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wrap="square" tIns="114300" rIns="152400" bIns="114300" lIns="15240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0–20%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29300" y="3913882"/>
            <a:ext cx="2681287" cy="466725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wrap="square" tIns="114300" rIns="152400" bIns="114300" lIns="15240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10587" y="3913882"/>
            <a:ext cx="2690812" cy="466725"/>
          </a:xfrm>
          <a:prstGeom prst="roundRect">
            <a:avLst>
              <a:gd name="adj" fmla="val 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14300" rIns="152400" bIns="114300" lIns="152400"/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SA-MCGS mandatory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533007"/>
            <a:ext cx="10744200" cy="257175"/>
          </a:xfrm>
          <a:prstGeom prst="roundRect">
            <a:avLst>
              <a:gd name="adj" fmla="val 29629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2025"/>
              </a:lnSpc>
            </a:pPr>
            <a:r>
              <a:rPr sz="1350" spc="0" b="1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SA-MCGS</a:t>
            </a: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 maintains stable performance at </a:t>
            </a:r>
            <a:r>
              <a:rPr sz="1350" spc="0" b="1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500+ clauses</a:t>
            </a: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57200" y="2114103"/>
            <a:ext cx="10744200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57200" y="2513707"/>
            <a:ext cx="10744200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57200" y="2114103"/>
            <a:ext cx="0" cy="2266504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201400" y="2114103"/>
            <a:ext cx="0" cy="2266504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57200" y="2980432"/>
            <a:ext cx="10744200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7200" y="3447157"/>
            <a:ext cx="10744200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57200" y="3913882"/>
            <a:ext cx="10744200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57200" y="4380607"/>
            <a:ext cx="10744200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10744200" cy="361950"/>
          </a:xfrm>
          <a:prstGeom prst="roundRect">
            <a:avLst>
              <a:gd name="adj" fmla="val 21052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2700"/>
              </a:lnSpc>
            </a:pPr>
            <a:r>
              <a:rPr sz="2400" spc="-96">
                <a:solidFill>
                  <a:srgbClr val="3D3D3D"/>
                </a:solidFill>
                <a:latin typeface="Plus Jakarta Sans 400"/>
              </a:rPr>
              <a:t>The Magnifier Effect: Search Friction as Signal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14400"/>
            <a:ext cx="10744200" cy="257175"/>
          </a:xfrm>
          <a:prstGeom prst="roundRect">
            <a:avLst>
              <a:gd name="adj" fmla="val 29629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2025"/>
              </a:lnSpc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Subtle defects trigger </a:t>
            </a:r>
            <a:r>
              <a:rPr sz="1350" spc="0" i="1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disproportionately</a:t>
            </a: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 large subgraph expansion — invisible to single-pass evaluation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00175"/>
            <a:ext cx="3587799" cy="399603"/>
          </a:xfrm>
          <a:prstGeom prst="roundRect">
            <a:avLst>
              <a:gd name="adj" fmla="val 0"/>
            </a:avLst>
          </a:prstGeom>
          <a:solidFill>
            <a:srgbClr val="F4F4F4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14300" rIns="152400" bIns="114300" lIns="152400"/>
          <a:lstStyle/>
          <a:p>
            <a:pPr algn="l">
              <a:lnSpc>
                <a:spcPts val="1197"/>
              </a:lnSpc>
            </a:pPr>
            <a:r>
              <a:rPr sz="900" spc="90">
                <a:solidFill>
                  <a:srgbClr val="3D3D3D"/>
                </a:solidFill>
                <a:latin typeface="Plus Jakarta Sans 500"/>
              </a:rPr>
              <a:t>Defect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44999" y="1400175"/>
            <a:ext cx="3578274" cy="399603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tIns="114300" rIns="152400" bIns="114300" lIns="152400" anchor="ctr">
            <a:spAutoFit/>
          </a:bodyPr>
          <a:lstStyle/>
          <a:p>
            <a:pPr algn="ctr">
              <a:lnSpc>
                <a:spcPts val="1197"/>
              </a:lnSpc>
            </a:pPr>
            <a:r>
              <a:rPr sz="900" spc="90">
                <a:solidFill>
                  <a:srgbClr val="3D3D3D"/>
                </a:solidFill>
                <a:latin typeface="Plus Jakarta Sans 500"/>
              </a:rPr>
              <a:t>Direct Alarms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3274" y="1400175"/>
            <a:ext cx="3578274" cy="399603"/>
          </a:xfrm>
          <a:prstGeom prst="roundRect">
            <a:avLst>
              <a:gd name="adj" fmla="val 0"/>
            </a:avLst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14300" rIns="152400" bIns="114300" lIns="152400"/>
          <a:lstStyle/>
          <a:p>
            <a:pPr algn="ctr">
              <a:lnSpc>
                <a:spcPts val="1197"/>
              </a:lnSpc>
            </a:pPr>
            <a:r>
              <a:rPr sz="900" spc="90">
                <a:solidFill>
                  <a:srgbClr val="3D3D3D"/>
                </a:solidFill>
                <a:latin typeface="Plus Jakarta Sans 500"/>
              </a:rPr>
              <a:t>Subgraph Expansion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99778"/>
            <a:ext cx="3587799" cy="466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tIns="114300" rIns="152400" bIns="114300" lIns="152400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Type A (Explicit)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44999" y="1799778"/>
            <a:ext cx="3578274" cy="466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tIns="114300" rIns="152400" bIns="114300" lIns="152400" anchor="ctr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2.4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3274" y="1799778"/>
            <a:ext cx="3578274" cy="466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tIns="114300" rIns="152400" bIns="114300" lIns="152400" anchor="ctr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+5.8 nodes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66503"/>
            <a:ext cx="3587799" cy="466725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wrap="square" tIns="114300" rIns="152400" bIns="114300" lIns="152400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Type B (Omission)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44999" y="2266503"/>
            <a:ext cx="3578274" cy="466725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wrap="square" tIns="114300" rIns="152400" bIns="114300" lIns="152400" anchor="ctr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2.0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3274" y="2266503"/>
            <a:ext cx="3578274" cy="466725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wrap="square" tIns="114300" rIns="152400" bIns="114300" lIns="152400" anchor="ctr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+4.5 nodes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33228"/>
            <a:ext cx="3587799" cy="466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tIns="114300" rIns="152400" bIns="114300" lIns="152400" anchor="ctr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 b="1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Type C (Subtle)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4999" y="2733228"/>
            <a:ext cx="3578274" cy="466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tIns="114300" rIns="152400" bIns="114300" lIns="152400" anchor="ctr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spc="0" b="1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0.8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3274" y="2733228"/>
            <a:ext cx="3578274" cy="466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tIns="114300" rIns="152400" bIns="114300" lIns="152400" anchor="ctr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spc="0" b="1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+8.4 nodes (300%+)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99953"/>
            <a:ext cx="3587799" cy="466725"/>
          </a:xfrm>
          <a:prstGeom prst="roundRect">
            <a:avLst>
              <a:gd name="adj" fmla="val 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14300" rIns="152400" bIns="114300" lIns="152400"/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Clean 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4999" y="3199953"/>
            <a:ext cx="3578274" cy="466725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wrap="square" tIns="114300" rIns="152400" bIns="114300" lIns="152400" anchor="ctr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0.0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23274" y="3199953"/>
            <a:ext cx="3578274" cy="466725"/>
          </a:xfrm>
          <a:prstGeom prst="roundRect">
            <a:avLst>
              <a:gd name="adj" fmla="val 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14300" rIns="152400" bIns="114300" lIns="152400"/>
          <a:lstStyle/>
          <a:p>
            <a:pPr algn="ctr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0 nodes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95278"/>
            <a:ext cx="10744200" cy="16950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085778"/>
            <a:ext cx="10744200" cy="1314003"/>
          </a:xfrm>
          <a:prstGeom prst="rect">
            <a:avLst/>
          </a:prstGeom>
          <a:solidFill>
            <a:srgbClr val="8C75D1">
              <a:alpha val="101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4276278"/>
            <a:ext cx="992534" cy="323403"/>
          </a:xfrm>
          <a:prstGeom prst="roundRect">
            <a:avLst>
              <a:gd name="adj" fmla="val 23561"/>
            </a:avLst>
          </a:prstGeom>
          <a:solidFill>
            <a:srgbClr val="EBE8F1"/>
          </a:solidFill>
          <a:ln w="9525">
            <a:solidFill>
              <a:srgbClr val="1E1E1E">
                <a:alpha val="7999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tIns="76200" rIns="76200" bIns="76200" lIns="76200"/>
          <a:lstStyle/>
          <a:p>
            <a:pPr algn="l">
              <a:lnSpc>
                <a:spcPts val="1197"/>
              </a:lnSpc>
            </a:pPr>
            <a:r>
              <a:rPr sz="900" spc="90">
                <a:solidFill>
                  <a:srgbClr val="7562AE"/>
                </a:solidFill>
                <a:latin typeface="Plus Jakarta Sans 600"/>
              </a:rPr>
              <a:t>KEY INSIGHT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694932"/>
            <a:ext cx="10287000" cy="514350"/>
          </a:xfrm>
          <a:prstGeom prst="roundRect">
            <a:avLst>
              <a:gd name="adj" fmla="val 14814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2025"/>
              </a:lnSpc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Type C subtle defects generate the </a:t>
            </a:r>
            <a:r>
              <a:rPr sz="1350" spc="0" b="1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fewest direct alarms (0.8)</a:t>
            </a: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 yet cause the </a:t>
            </a:r>
            <a:r>
              <a:rPr sz="1350" spc="0" b="1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largest subgraph expansion (+8.4 nodes)</a:t>
            </a: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 — search friction is a secondary signal that reveals what direct evaluation misses.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044999" y="1400175"/>
            <a:ext cx="7156549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44999" y="1799778"/>
            <a:ext cx="7156549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623274" y="1400175"/>
            <a:ext cx="0" cy="2266503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201548" y="1400175"/>
            <a:ext cx="0" cy="2266503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57200" y="2266503"/>
            <a:ext cx="10744348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57200" y="1799778"/>
            <a:ext cx="0" cy="186690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044999" y="1799778"/>
            <a:ext cx="0" cy="186690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57200" y="2733228"/>
            <a:ext cx="10744348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7200" y="3199953"/>
            <a:ext cx="10744348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57200" y="3666678"/>
            <a:ext cx="10744348" cy="0"/>
          </a:xfrm>
          <a:prstGeom prst="line">
            <a:avLst/>
          </a:prstGeom>
          <a:ln w="12700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10744200" cy="361950"/>
          </a:xfrm>
          <a:prstGeom prst="roundRect">
            <a:avLst>
              <a:gd name="adj" fmla="val 21052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2700"/>
              </a:lnSpc>
            </a:pPr>
            <a:r>
              <a:rPr sz="2400" spc="-96">
                <a:solidFill>
                  <a:srgbClr val="3D3D3D"/>
                </a:solidFill>
                <a:latin typeface="Plus Jakarta Sans 400"/>
              </a:rPr>
              <a:t>Beyond Law: A General Reasoning Pattern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14400"/>
            <a:ext cx="10744200" cy="257175"/>
          </a:xfrm>
          <a:prstGeom prst="roundRect">
            <a:avLst>
              <a:gd name="adj" fmla="val 29629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2025"/>
              </a:lnSpc>
            </a:pP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SA-MCGS generalizes to any domain with complex dependencies — not just legal reasoning.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00175"/>
            <a:ext cx="5334000" cy="1957387"/>
          </a:xfrm>
          <a:prstGeom prst="roundRect">
            <a:avLst>
              <a:gd name="adj" fmla="val 3892"/>
            </a:avLst>
          </a:prstGeom>
          <a:solidFill>
            <a:srgbClr val="FFFFFF"/>
          </a:solidFill>
          <a:ln>
            <a:noFill/>
          </a:ln>
          <a:effectLst>
            <a:outerShdw blurRad="457200" dist="0" dir="0" algn="tl" rotWithShape="0">
              <a:srgbClr val="666666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3870" y="1704975"/>
            <a:ext cx="4282529" cy="20568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620"/>
              </a:lnSpc>
            </a:pPr>
            <a:r>
              <a:rPr sz="1350" spc="-27">
                <a:solidFill>
                  <a:srgbClr val="3D3D3D"/>
                </a:solidFill>
                <a:latin typeface="Plus Jakarta Sans 500"/>
              </a:rPr>
              <a:t>Code Auditing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3870" y="2063055"/>
            <a:ext cx="4282529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Circular imports, mutual recursion, and callback chains require dependency-aware traversal.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04975"/>
            <a:ext cx="213270" cy="21327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867400" y="1400175"/>
            <a:ext cx="5334000" cy="1957387"/>
          </a:xfrm>
          <a:prstGeom prst="roundRect">
            <a:avLst>
              <a:gd name="adj" fmla="val 3892"/>
            </a:avLst>
          </a:prstGeom>
          <a:solidFill>
            <a:srgbClr val="FFFFFF"/>
          </a:solidFill>
          <a:ln>
            <a:noFill/>
          </a:ln>
          <a:effectLst>
            <a:outerShdw blurRad="457200" dist="0" dir="0" algn="tl" rotWithShape="0">
              <a:srgbClr val="666666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4070" y="1704975"/>
            <a:ext cx="4282529" cy="20568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620"/>
              </a:lnSpc>
            </a:pPr>
            <a:r>
              <a:rPr sz="1350" spc="-27">
                <a:solidFill>
                  <a:srgbClr val="3D3D3D"/>
                </a:solidFill>
                <a:latin typeface="Plus Jakarta Sans 500"/>
              </a:rPr>
              <a:t>Scientific Literature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4070" y="2063055"/>
            <a:ext cx="4282529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Citation graphs with conflicting findings demand consistency checking across sources.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704975"/>
            <a:ext cx="213270" cy="21327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57200" y="3433762"/>
            <a:ext cx="5334000" cy="1957387"/>
          </a:xfrm>
          <a:prstGeom prst="roundRect">
            <a:avLst>
              <a:gd name="adj" fmla="val 3892"/>
            </a:avLst>
          </a:prstGeom>
          <a:solidFill>
            <a:srgbClr val="FFFFFF"/>
          </a:solidFill>
          <a:ln>
            <a:noFill/>
          </a:ln>
          <a:effectLst>
            <a:outerShdw blurRad="457200" dist="0" dir="0" algn="tl" rotWithShape="0">
              <a:srgbClr val="666666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3870" y="3738562"/>
            <a:ext cx="4282529" cy="20568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620"/>
              </a:lnSpc>
            </a:pPr>
            <a:r>
              <a:rPr sz="1350" spc="-27">
                <a:solidFill>
                  <a:srgbClr val="3D3D3D"/>
                </a:solidFill>
                <a:latin typeface="Plus Jakarta Sans 500"/>
              </a:rPr>
              <a:t>Knowledge Graphs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3870" y="4096642"/>
            <a:ext cx="4282529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Cyclic relationships must be resolved without contradiction to maintain integrity.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738562"/>
            <a:ext cx="213270" cy="21327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5867400" y="3433762"/>
            <a:ext cx="5334000" cy="1957387"/>
          </a:xfrm>
          <a:prstGeom prst="roundRect">
            <a:avLst>
              <a:gd name="adj" fmla="val 3892"/>
            </a:avLst>
          </a:prstGeom>
          <a:solidFill>
            <a:srgbClr val="FFFFFF"/>
          </a:solidFill>
          <a:ln>
            <a:noFill/>
          </a:ln>
          <a:effectLst>
            <a:outerShdw blurRad="457200" dist="0" dir="0" algn="tl" rotWithShape="0">
              <a:srgbClr val="666666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4070" y="3738562"/>
            <a:ext cx="4282529" cy="20568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620"/>
              </a:lnSpc>
            </a:pPr>
            <a:r>
              <a:rPr sz="1350" spc="-27">
                <a:solidFill>
                  <a:srgbClr val="3D3D3D"/>
                </a:solidFill>
                <a:latin typeface="Plus Jakarta Sans 500"/>
              </a:rPr>
              <a:t>Multi-Agent Systems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4070" y="4096642"/>
            <a:ext cx="4282529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20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Agent interaction dependency verification ensures safe and coherent collaborative behavior.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3738562"/>
            <a:ext cx="213270" cy="21327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457200" y="5619750"/>
            <a:ext cx="10744200" cy="485775"/>
          </a:xfrm>
          <a:prstGeom prst="roundRect">
            <a:avLst>
              <a:gd name="adj" fmla="val 15686"/>
            </a:avLst>
          </a:prstGeom>
          <a:solidFill>
            <a:srgbClr val="8C75D1">
              <a:alpha val="1215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14300" rIns="114300" bIns="114300" lIns="114300"/>
          <a:lstStyle/>
          <a:p>
            <a:pPr algn="ctr">
              <a:lnSpc>
                <a:spcPts val="2025"/>
              </a:lnSpc>
            </a:pPr>
            <a:r>
              <a:rPr sz="1350" spc="0" b="1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Design Pattern:</a:t>
            </a: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 LLM as System-1  +  Search as System-2  =  </a:t>
            </a:r>
            <a:r>
              <a:rPr sz="1350" spc="0" b="1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Reliable AI Reasoning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10744200" cy="361950"/>
          </a:xfrm>
          <a:prstGeom prst="roundRect">
            <a:avLst>
              <a:gd name="adj" fmla="val 21052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0" rIns="0" bIns="0" lIns="0"/>
          <a:lstStyle/>
          <a:p>
            <a:pPr algn="l">
              <a:lnSpc>
                <a:spcPts val="2700"/>
              </a:lnSpc>
            </a:pPr>
            <a:r>
              <a:rPr sz="2400" spc="-96">
                <a:solidFill>
                  <a:srgbClr val="3D3D3D"/>
                </a:solidFill>
                <a:latin typeface="Plus Jakarta Sans 400"/>
              </a:rPr>
              <a:t>Key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47750"/>
            <a:ext cx="2628900" cy="1294953"/>
          </a:xfrm>
          <a:prstGeom prst="roundRect">
            <a:avLst>
              <a:gd name="adj" fmla="val 5884"/>
            </a:avLst>
          </a:prstGeom>
          <a:solidFill>
            <a:srgbClr val="FFFFFF"/>
          </a:solidFill>
          <a:ln>
            <a:noFill/>
          </a:ln>
          <a:effectLst>
            <a:outerShdw blurRad="457200" dist="0" dir="0" algn="tl" rotWithShape="0">
              <a:srgbClr val="666666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352550"/>
            <a:ext cx="156269" cy="151953"/>
          </a:xfrm>
          <a:prstGeom prst="rect">
            <a:avLst/>
          </a:prstGeom>
          <a:noFill/>
          <a:ln>
            <a:noFill/>
          </a:ln>
        </p:spPr>
        <p:txBody>
          <a:bodyPr wrap="none" tIns="0" rIns="0" bIns="0" lIns="0">
            <a:spAutoFit/>
          </a:bodyPr>
          <a:lstStyle/>
          <a:p>
            <a:pPr algn="l">
              <a:lnSpc>
                <a:spcPts val="1197"/>
              </a:lnSpc>
            </a:pPr>
            <a:r>
              <a:rPr sz="900" spc="90">
                <a:solidFill>
                  <a:srgbClr val="7562AE"/>
                </a:solidFill>
                <a:latin typeface="Plus Jakarta Sans 600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656903"/>
            <a:ext cx="20193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Structured search is necessary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62300" y="1047750"/>
            <a:ext cx="2628900" cy="1294953"/>
          </a:xfrm>
          <a:prstGeom prst="roundRect">
            <a:avLst>
              <a:gd name="adj" fmla="val 5884"/>
            </a:avLst>
          </a:prstGeom>
          <a:solidFill>
            <a:srgbClr val="FFFFFF"/>
          </a:solidFill>
          <a:ln>
            <a:noFill/>
          </a:ln>
          <a:effectLst>
            <a:outerShdw blurRad="457200" dist="0" dir="0" algn="tl" rotWithShape="0">
              <a:srgbClr val="666666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67100" y="1352550"/>
            <a:ext cx="175319" cy="151953"/>
          </a:xfrm>
          <a:prstGeom prst="rect">
            <a:avLst/>
          </a:prstGeom>
          <a:noFill/>
          <a:ln>
            <a:noFill/>
          </a:ln>
        </p:spPr>
        <p:txBody>
          <a:bodyPr wrap="none" tIns="0" rIns="0" bIns="0" lIns="0">
            <a:spAutoFit/>
          </a:bodyPr>
          <a:lstStyle/>
          <a:p>
            <a:pPr algn="l">
              <a:lnSpc>
                <a:spcPts val="1197"/>
              </a:lnSpc>
            </a:pPr>
            <a:r>
              <a:rPr sz="900" spc="90">
                <a:solidFill>
                  <a:srgbClr val="7562AE"/>
                </a:solidFill>
                <a:latin typeface="Plus Jakarta Sans 600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67100" y="1656903"/>
            <a:ext cx="20193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Topological focus matters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67400" y="1047750"/>
            <a:ext cx="2628900" cy="1294953"/>
          </a:xfrm>
          <a:prstGeom prst="roundRect">
            <a:avLst>
              <a:gd name="adj" fmla="val 5884"/>
            </a:avLst>
          </a:prstGeom>
          <a:solidFill>
            <a:srgbClr val="FFFFFF"/>
          </a:solidFill>
          <a:ln>
            <a:noFill/>
          </a:ln>
          <a:effectLst>
            <a:outerShdw blurRad="457200" dist="0" dir="0" algn="tl" rotWithShape="0">
              <a:srgbClr val="666666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352550"/>
            <a:ext cx="175319" cy="151953"/>
          </a:xfrm>
          <a:prstGeom prst="rect">
            <a:avLst/>
          </a:prstGeom>
          <a:noFill/>
          <a:ln>
            <a:noFill/>
          </a:ln>
        </p:spPr>
        <p:txBody>
          <a:bodyPr wrap="none" tIns="0" rIns="0" bIns="0" lIns="0">
            <a:spAutoFit/>
          </a:bodyPr>
          <a:lstStyle/>
          <a:p>
            <a:pPr algn="l">
              <a:lnSpc>
                <a:spcPts val="1197"/>
              </a:lnSpc>
            </a:pPr>
            <a:r>
              <a:rPr sz="900" spc="90">
                <a:solidFill>
                  <a:srgbClr val="7562AE"/>
                </a:solidFill>
                <a:latin typeface="Plus Jakarta Sans 600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656903"/>
            <a:ext cx="20193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Search is informative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0" y="1047750"/>
            <a:ext cx="2628900" cy="1294953"/>
          </a:xfrm>
          <a:prstGeom prst="roundRect">
            <a:avLst>
              <a:gd name="adj" fmla="val 5884"/>
            </a:avLst>
          </a:prstGeom>
          <a:solidFill>
            <a:srgbClr val="FFFFFF"/>
          </a:solidFill>
          <a:ln>
            <a:noFill/>
          </a:ln>
          <a:effectLst>
            <a:outerShdw blurRad="457200" dist="0" dir="0" algn="tl" rotWithShape="0">
              <a:srgbClr val="666666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77300" y="1352550"/>
            <a:ext cx="184844" cy="151953"/>
          </a:xfrm>
          <a:prstGeom prst="rect">
            <a:avLst/>
          </a:prstGeom>
          <a:noFill/>
          <a:ln>
            <a:noFill/>
          </a:ln>
        </p:spPr>
        <p:txBody>
          <a:bodyPr wrap="none" tIns="0" rIns="0" bIns="0" lIns="0">
            <a:spAutoFit/>
          </a:bodyPr>
          <a:lstStyle/>
          <a:p>
            <a:pPr algn="l">
              <a:lnSpc>
                <a:spcPts val="1197"/>
              </a:lnSpc>
            </a:pPr>
            <a:r>
              <a:rPr sz="900" spc="90">
                <a:solidFill>
                  <a:srgbClr val="7562AE"/>
                </a:solidFill>
                <a:latin typeface="Plus Jakarta Sans 600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77300" y="1656903"/>
            <a:ext cx="20193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spc="0">
                <a:solidFill>
                  <a:srgbClr val="3D3D3D"/>
                </a:solidFill>
                <a:latin typeface="Plus Jakarta Sans 500"/>
              </a:rPr>
              <a:t>The framework is domain-agnostic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533203"/>
            <a:ext cx="10744200" cy="485775"/>
          </a:xfrm>
          <a:prstGeom prst="roundRect">
            <a:avLst>
              <a:gd name="adj" fmla="val 15686"/>
            </a:avLst>
          </a:prstGeom>
          <a:solidFill>
            <a:srgbClr val="8C75D1">
              <a:alpha val="101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114300" rIns="114300" bIns="114300" lIns="114300"/>
          <a:lstStyle/>
          <a:p>
            <a:pPr algn="l">
              <a:lnSpc>
                <a:spcPts val="2025"/>
              </a:lnSpc>
            </a:pPr>
            <a:r>
              <a:rPr sz="1350" spc="0" b="1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The future of reliable AI reasoning:</a:t>
            </a:r>
            <a:r>
              <a:rPr sz="1350" spc="0">
                <a:solidFill>
                  <a:srgbClr val="3D3D3D">
                    <a:alpha val="63921"/>
                  </a:srgbClr>
                </a:solidFill>
                <a:latin typeface="Plus Jakarta Sans 400"/>
              </a:rPr>
              <a:t> fast LLM intuition + deliberate, structure-aware 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